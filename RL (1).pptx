
<file path=[Content_Types].xml><?xml version="1.0" encoding="utf-8"?>
<Types xmlns="http://schemas.openxmlformats.org/package/2006/content-types">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0" r:id="rId1"/>
  </p:sldMasterIdLst>
  <p:notesMasterIdLst>
    <p:notesMasterId r:id="rId19"/>
  </p:notesMasterIdLst>
  <p:sldIdLst>
    <p:sldId id="335" r:id="rId2"/>
    <p:sldId id="336" r:id="rId3"/>
    <p:sldId id="337" r:id="rId4"/>
    <p:sldId id="338" r:id="rId5"/>
    <p:sldId id="339" r:id="rId6"/>
    <p:sldId id="340" r:id="rId7"/>
    <p:sldId id="341" r:id="rId8"/>
    <p:sldId id="343" r:id="rId9"/>
    <p:sldId id="344" r:id="rId10"/>
    <p:sldId id="342" r:id="rId11"/>
    <p:sldId id="345" r:id="rId12"/>
    <p:sldId id="346" r:id="rId13"/>
    <p:sldId id="347" r:id="rId14"/>
    <p:sldId id="348" r:id="rId15"/>
    <p:sldId id="349" r:id="rId16"/>
    <p:sldId id="350" r:id="rId17"/>
    <p:sldId id="35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0088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471" autoAdjust="0"/>
    <p:restoredTop sz="90336" autoAdjust="0"/>
  </p:normalViewPr>
  <p:slideViewPr>
    <p:cSldViewPr>
      <p:cViewPr varScale="1">
        <p:scale>
          <a:sx n="145" d="100"/>
          <a:sy n="145" d="100"/>
        </p:scale>
        <p:origin x="3024" y="108"/>
      </p:cViewPr>
      <p:guideLst>
        <p:guide orient="horz" pos="2160"/>
        <p:guide pos="2880"/>
      </p:guideLst>
    </p:cSldViewPr>
  </p:slideViewPr>
  <p:outlineViewPr>
    <p:cViewPr>
      <p:scale>
        <a:sx n="33" d="100"/>
        <a:sy n="33" d="100"/>
      </p:scale>
      <p:origin x="0" y="6762"/>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D314EF-CFFD-43AB-AAC0-A27CB864FD8B}" type="datetimeFigureOut">
              <a:rPr lang="en-US" smtClean="0"/>
              <a:t>11/18/2024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D886680-49D4-4D15-8C72-C406FDB04764}" type="slidenum">
              <a:rPr lang="en-US" smtClean="0"/>
              <a:t>‹#›</a:t>
            </a:fld>
            <a:endParaRPr lang="en-US"/>
          </a:p>
        </p:txBody>
      </p:sp>
    </p:spTree>
    <p:extLst>
      <p:ext uri="{BB962C8B-B14F-4D97-AF65-F5344CB8AC3E}">
        <p14:creationId xmlns:p14="http://schemas.microsoft.com/office/powerpoint/2010/main" val="251094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0B036CD-B82B-4267-B102-1791DEBC8908}"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1474682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B036CD-B82B-4267-B102-1791DEBC8908}"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2DF6E-3116-43BF-9041-A6657D8525D1}" type="slidenum">
              <a:rPr lang="en-US" smtClean="0"/>
              <a:t>‹#›</a:t>
            </a:fld>
            <a:endParaRPr lang="en-US"/>
          </a:p>
        </p:txBody>
      </p:sp>
      <p:cxnSp>
        <p:nvCxnSpPr>
          <p:cNvPr id="10" name="Straight Connector 9"/>
          <p:cNvCxnSpPr/>
          <p:nvPr userDrawn="1"/>
        </p:nvCxnSpPr>
        <p:spPr>
          <a:xfrm>
            <a:off x="457200" y="1295400"/>
            <a:ext cx="4114800" cy="0"/>
          </a:xfrm>
          <a:prstGeom prst="line">
            <a:avLst/>
          </a:prstGeom>
          <a:ln w="25400">
            <a:solidFill>
              <a:srgbClr val="00883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569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0B036CD-B82B-4267-B102-1791DEBC8908}"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3071419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B036CD-B82B-4267-B102-1791DEBC8908}"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2636632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0B036CD-B82B-4267-B102-1791DEBC8908}" type="datetimeFigureOut">
              <a:rPr lang="en-US" smtClean="0"/>
              <a:t>11/18/2024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1235787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0B036CD-B82B-4267-B102-1791DEBC8908}" type="datetimeFigureOut">
              <a:rPr lang="en-US" smtClean="0"/>
              <a:t>11/18/2024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3778648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B036CD-B82B-4267-B102-1791DEBC8908}" type="datetimeFigureOut">
              <a:rPr lang="en-US" smtClean="0"/>
              <a:t>11/18/2024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57722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036CD-B82B-4267-B102-1791DEBC8908}"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174245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036CD-B82B-4267-B102-1791DEBC8908}" type="datetimeFigureOut">
              <a:rPr lang="en-US" smtClean="0"/>
              <a:t>11/18/2024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6427421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B036CD-B82B-4267-B102-1791DEBC8908}"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2052384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B036CD-B82B-4267-B102-1791DEBC8908}" type="datetimeFigureOut">
              <a:rPr lang="en-US" smtClean="0"/>
              <a:t>11/18/2024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32DF6E-3116-43BF-9041-A6657D8525D1}" type="slidenum">
              <a:rPr lang="en-US" smtClean="0"/>
              <a:t>‹#›</a:t>
            </a:fld>
            <a:endParaRPr lang="en-US"/>
          </a:p>
        </p:txBody>
      </p:sp>
    </p:spTree>
    <p:extLst>
      <p:ext uri="{BB962C8B-B14F-4D97-AF65-F5344CB8AC3E}">
        <p14:creationId xmlns:p14="http://schemas.microsoft.com/office/powerpoint/2010/main" val="2773855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B036CD-B82B-4267-B102-1791DEBC8908}" type="datetimeFigureOut">
              <a:rPr lang="en-US" smtClean="0"/>
              <a:t>11/18/2024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32DF6E-3116-43BF-9041-A6657D8525D1}" type="slidenum">
              <a:rPr lang="en-US" smtClean="0"/>
              <a:t>‹#›</a:t>
            </a:fld>
            <a:endParaRPr lang="en-US"/>
          </a:p>
        </p:txBody>
      </p:sp>
    </p:spTree>
    <p:extLst>
      <p:ext uri="{BB962C8B-B14F-4D97-AF65-F5344CB8AC3E}">
        <p14:creationId xmlns:p14="http://schemas.microsoft.com/office/powerpoint/2010/main" val="123842048"/>
      </p:ext>
    </p:extLst>
  </p:cSld>
  <p:clrMap bg1="lt1" tx1="dk1" bg2="lt2" tx2="dk2" accent1="accent1" accent2="accent2" accent3="accent3" accent4="accent4" accent5="accent5" accent6="accent6" hlink="hlink" folHlink="folHlink"/>
  <p:sldLayoutIdLst>
    <p:sldLayoutId id="2147484141" r:id="rId1"/>
    <p:sldLayoutId id="2147484142" r:id="rId2"/>
    <p:sldLayoutId id="2147484143" r:id="rId3"/>
    <p:sldLayoutId id="2147484144" r:id="rId4"/>
    <p:sldLayoutId id="2147484145" r:id="rId5"/>
    <p:sldLayoutId id="2147484146" r:id="rId6"/>
    <p:sldLayoutId id="2147484147" r:id="rId7"/>
    <p:sldLayoutId id="2147484148" r:id="rId8"/>
    <p:sldLayoutId id="2147484149" r:id="rId9"/>
    <p:sldLayoutId id="2147484150" r:id="rId10"/>
    <p:sldLayoutId id="214748415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image" Target="../media/image4.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AFC78-3B2C-FD45-B916-5BAD6A3FEACF}"/>
              </a:ext>
            </a:extLst>
          </p:cNvPr>
          <p:cNvSpPr>
            <a:spLocks noGrp="1"/>
          </p:cNvSpPr>
          <p:nvPr>
            <p:ph type="title"/>
          </p:nvPr>
        </p:nvSpPr>
        <p:spPr/>
        <p:txBody>
          <a:bodyPr/>
          <a:lstStyle/>
          <a:p>
            <a:r>
              <a:rPr lang="en-US" dirty="0"/>
              <a:t>Context</a:t>
            </a:r>
          </a:p>
        </p:txBody>
      </p:sp>
      <p:sp>
        <p:nvSpPr>
          <p:cNvPr id="3" name="Content Placeholder 2">
            <a:extLst>
              <a:ext uri="{FF2B5EF4-FFF2-40B4-BE49-F238E27FC236}">
                <a16:creationId xmlns:a16="http://schemas.microsoft.com/office/drawing/2014/main" id="{1C426400-5AF7-9F49-B822-DF7F49E67B48}"/>
              </a:ext>
            </a:extLst>
          </p:cNvPr>
          <p:cNvSpPr>
            <a:spLocks noGrp="1"/>
          </p:cNvSpPr>
          <p:nvPr>
            <p:ph idx="1"/>
          </p:nvPr>
        </p:nvSpPr>
        <p:spPr/>
        <p:txBody>
          <a:bodyPr>
            <a:normAutofit fontScale="85000" lnSpcReduction="10000"/>
          </a:bodyPr>
          <a:lstStyle/>
          <a:p>
            <a:r>
              <a:rPr lang="en-US" dirty="0"/>
              <a:t>Imagine our agent as a dumb virtual robot that can learn through experience. The agent can pass from one room to another but has no knowledge of the environment, and doesn't know which sequence of doors lead to the outside.</a:t>
            </a:r>
          </a:p>
          <a:p>
            <a:endParaRPr lang="en-US" dirty="0"/>
          </a:p>
          <a:p>
            <a:r>
              <a:rPr lang="en-US" dirty="0"/>
              <a:t>Suppose we want to model some kind of simple evacuation of an agent from any room in the building. Now suppose we have an agent in Room 2 and we want the agent to learn to reach outside the house (5).</a:t>
            </a:r>
          </a:p>
        </p:txBody>
      </p:sp>
    </p:spTree>
    <p:extLst>
      <p:ext uri="{BB962C8B-B14F-4D97-AF65-F5344CB8AC3E}">
        <p14:creationId xmlns:p14="http://schemas.microsoft.com/office/powerpoint/2010/main" val="40763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3B770-E4C9-F746-AE66-FAFB7DC7C54C}"/>
              </a:ext>
            </a:extLst>
          </p:cNvPr>
          <p:cNvSpPr>
            <a:spLocks noGrp="1"/>
          </p:cNvSpPr>
          <p:nvPr>
            <p:ph type="title"/>
          </p:nvPr>
        </p:nvSpPr>
        <p:spPr/>
        <p:txBody>
          <a:bodyPr/>
          <a:lstStyle/>
          <a:p>
            <a:r>
              <a:rPr lang="en-US" dirty="0"/>
              <a:t>States and Action</a:t>
            </a:r>
          </a:p>
        </p:txBody>
      </p:sp>
      <p:sp>
        <p:nvSpPr>
          <p:cNvPr id="3" name="Content Placeholder 2">
            <a:extLst>
              <a:ext uri="{FF2B5EF4-FFF2-40B4-BE49-F238E27FC236}">
                <a16:creationId xmlns:a16="http://schemas.microsoft.com/office/drawing/2014/main" id="{E09E05C8-CE8C-1B4D-B485-F8D4F761638F}"/>
              </a:ext>
            </a:extLst>
          </p:cNvPr>
          <p:cNvSpPr>
            <a:spLocks noGrp="1"/>
          </p:cNvSpPr>
          <p:nvPr>
            <p:ph idx="1"/>
          </p:nvPr>
        </p:nvSpPr>
        <p:spPr>
          <a:xfrm>
            <a:off x="457200" y="4237037"/>
            <a:ext cx="8229600" cy="2468563"/>
          </a:xfrm>
        </p:spPr>
        <p:txBody>
          <a:bodyPr>
            <a:normAutofit fontScale="77500" lnSpcReduction="20000"/>
          </a:bodyPr>
          <a:lstStyle/>
          <a:p>
            <a:r>
              <a:rPr lang="en-US" dirty="0"/>
              <a:t>The terminology in Q-Learning includes the terms "state" and "action".</a:t>
            </a:r>
          </a:p>
          <a:p>
            <a:r>
              <a:rPr lang="en-US" dirty="0"/>
              <a:t>We'll call each room, including outside, a "state", and the agent's movement from one room to another will be an "action".  In our diagram, a "state" is depicted as a node, while "action" is represented by the arrows.</a:t>
            </a:r>
          </a:p>
          <a:p>
            <a:endParaRPr lang="en-US" dirty="0"/>
          </a:p>
        </p:txBody>
      </p:sp>
      <p:pic>
        <p:nvPicPr>
          <p:cNvPr id="4" name="Picture 3">
            <a:extLst>
              <a:ext uri="{FF2B5EF4-FFF2-40B4-BE49-F238E27FC236}">
                <a16:creationId xmlns:a16="http://schemas.microsoft.com/office/drawing/2014/main" id="{CBC3446D-E3C6-BE45-A944-EC56B79AB078}"/>
              </a:ext>
            </a:extLst>
          </p:cNvPr>
          <p:cNvPicPr>
            <a:picLocks noChangeAspect="1"/>
          </p:cNvPicPr>
          <p:nvPr/>
        </p:nvPicPr>
        <p:blipFill>
          <a:blip r:embed="rId2"/>
          <a:stretch>
            <a:fillRect/>
          </a:stretch>
        </p:blipFill>
        <p:spPr>
          <a:xfrm>
            <a:off x="2590800" y="1417638"/>
            <a:ext cx="3962400" cy="2297642"/>
          </a:xfrm>
          <a:prstGeom prst="rect">
            <a:avLst/>
          </a:prstGeom>
        </p:spPr>
      </p:pic>
    </p:spTree>
    <p:extLst>
      <p:ext uri="{BB962C8B-B14F-4D97-AF65-F5344CB8AC3E}">
        <p14:creationId xmlns:p14="http://schemas.microsoft.com/office/powerpoint/2010/main" val="1085814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425FD-B8B9-FA45-BD48-2EF30CC465E0}"/>
              </a:ext>
            </a:extLst>
          </p:cNvPr>
          <p:cNvSpPr>
            <a:spLocks noGrp="1"/>
          </p:cNvSpPr>
          <p:nvPr>
            <p:ph type="title"/>
          </p:nvPr>
        </p:nvSpPr>
        <p:spPr/>
        <p:txBody>
          <a:bodyPr/>
          <a:lstStyle/>
          <a:p>
            <a:r>
              <a:rPr lang="en-US" dirty="0"/>
              <a:t>Transitioning states</a:t>
            </a:r>
          </a:p>
        </p:txBody>
      </p:sp>
      <p:sp>
        <p:nvSpPr>
          <p:cNvPr id="3" name="Content Placeholder 2">
            <a:extLst>
              <a:ext uri="{FF2B5EF4-FFF2-40B4-BE49-F238E27FC236}">
                <a16:creationId xmlns:a16="http://schemas.microsoft.com/office/drawing/2014/main" id="{2F9FA980-26C0-BF49-AA70-6142AABFE4F7}"/>
              </a:ext>
            </a:extLst>
          </p:cNvPr>
          <p:cNvSpPr>
            <a:spLocks noGrp="1"/>
          </p:cNvSpPr>
          <p:nvPr>
            <p:ph idx="1"/>
          </p:nvPr>
        </p:nvSpPr>
        <p:spPr>
          <a:xfrm>
            <a:off x="457200" y="4572000"/>
            <a:ext cx="8229600" cy="2209800"/>
          </a:xfrm>
        </p:spPr>
        <p:txBody>
          <a:bodyPr>
            <a:normAutofit fontScale="55000" lnSpcReduction="20000"/>
          </a:bodyPr>
          <a:lstStyle/>
          <a:p>
            <a:r>
              <a:rPr lang="en-US" dirty="0"/>
              <a:t>Suppose the agent is in state 2.  From state 2, it can go to state 3 because state 2 is connected to 3.  From state 2, however, the agent cannot directly go to state 1 because there is no direct door connecting room 1 and 2 (thus, no arrows).  </a:t>
            </a:r>
          </a:p>
          <a:p>
            <a:r>
              <a:rPr lang="en-US" dirty="0"/>
              <a:t>From state 3, it can go either to state 1 or 4 or back to 2 (look at all the arrows about state 3).  If the agent is in state 4, then the three possible actions are to go to state 0, 5 or 3.  If the agent is in state 1, it can go either to state 5 or 3.  From state 0, it can only go back to state </a:t>
            </a:r>
          </a:p>
        </p:txBody>
      </p:sp>
      <p:pic>
        <p:nvPicPr>
          <p:cNvPr id="4" name="Picture 3">
            <a:extLst>
              <a:ext uri="{FF2B5EF4-FFF2-40B4-BE49-F238E27FC236}">
                <a16:creationId xmlns:a16="http://schemas.microsoft.com/office/drawing/2014/main" id="{9EBEF897-D263-5B4F-9576-C8E0094AFE5C}"/>
              </a:ext>
            </a:extLst>
          </p:cNvPr>
          <p:cNvPicPr>
            <a:picLocks noChangeAspect="1"/>
          </p:cNvPicPr>
          <p:nvPr/>
        </p:nvPicPr>
        <p:blipFill>
          <a:blip r:embed="rId2"/>
          <a:stretch>
            <a:fillRect/>
          </a:stretch>
        </p:blipFill>
        <p:spPr>
          <a:xfrm>
            <a:off x="2286000" y="1417638"/>
            <a:ext cx="4343400" cy="2838529"/>
          </a:xfrm>
          <a:prstGeom prst="rect">
            <a:avLst/>
          </a:prstGeom>
        </p:spPr>
      </p:pic>
    </p:spTree>
    <p:extLst>
      <p:ext uri="{BB962C8B-B14F-4D97-AF65-F5344CB8AC3E}">
        <p14:creationId xmlns:p14="http://schemas.microsoft.com/office/powerpoint/2010/main" val="3586197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E9030-A805-0B4E-9D44-0FB670A616C6}"/>
              </a:ext>
            </a:extLst>
          </p:cNvPr>
          <p:cNvSpPr>
            <a:spLocks noGrp="1"/>
          </p:cNvSpPr>
          <p:nvPr>
            <p:ph type="title"/>
          </p:nvPr>
        </p:nvSpPr>
        <p:spPr/>
        <p:txBody>
          <a:bodyPr/>
          <a:lstStyle/>
          <a:p>
            <a:r>
              <a:rPr lang="en-US" dirty="0"/>
              <a:t>The Reward Matrix at the start</a:t>
            </a:r>
          </a:p>
        </p:txBody>
      </p:sp>
      <p:pic>
        <p:nvPicPr>
          <p:cNvPr id="4" name="Picture 3">
            <a:extLst>
              <a:ext uri="{FF2B5EF4-FFF2-40B4-BE49-F238E27FC236}">
                <a16:creationId xmlns:a16="http://schemas.microsoft.com/office/drawing/2014/main" id="{1139F308-21C5-224D-BA5B-CC36EB75F178}"/>
              </a:ext>
            </a:extLst>
          </p:cNvPr>
          <p:cNvPicPr>
            <a:picLocks noChangeAspect="1"/>
          </p:cNvPicPr>
          <p:nvPr/>
        </p:nvPicPr>
        <p:blipFill>
          <a:blip r:embed="rId2"/>
          <a:stretch>
            <a:fillRect/>
          </a:stretch>
        </p:blipFill>
        <p:spPr>
          <a:xfrm>
            <a:off x="1828800" y="2057400"/>
            <a:ext cx="5829426" cy="3873500"/>
          </a:xfrm>
          <a:prstGeom prst="rect">
            <a:avLst/>
          </a:prstGeom>
        </p:spPr>
      </p:pic>
    </p:spTree>
    <p:extLst>
      <p:ext uri="{BB962C8B-B14F-4D97-AF65-F5344CB8AC3E}">
        <p14:creationId xmlns:p14="http://schemas.microsoft.com/office/powerpoint/2010/main" val="1404346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E9436-F76E-5A4E-8866-BDD57D2A72E7}"/>
              </a:ext>
            </a:extLst>
          </p:cNvPr>
          <p:cNvSpPr>
            <a:spLocks noGrp="1"/>
          </p:cNvSpPr>
          <p:nvPr>
            <p:ph type="title"/>
          </p:nvPr>
        </p:nvSpPr>
        <p:spPr/>
        <p:txBody>
          <a:bodyPr/>
          <a:lstStyle/>
          <a:p>
            <a:r>
              <a:rPr lang="en-US" dirty="0"/>
              <a:t>The Q matrix</a:t>
            </a:r>
          </a:p>
        </p:txBody>
      </p:sp>
      <p:sp>
        <p:nvSpPr>
          <p:cNvPr id="3" name="Content Placeholder 2">
            <a:extLst>
              <a:ext uri="{FF2B5EF4-FFF2-40B4-BE49-F238E27FC236}">
                <a16:creationId xmlns:a16="http://schemas.microsoft.com/office/drawing/2014/main" id="{881D31A1-BB5E-D341-AA80-E082C240D566}"/>
              </a:ext>
            </a:extLst>
          </p:cNvPr>
          <p:cNvSpPr>
            <a:spLocks noGrp="1"/>
          </p:cNvSpPr>
          <p:nvPr>
            <p:ph idx="1"/>
          </p:nvPr>
        </p:nvSpPr>
        <p:spPr>
          <a:xfrm>
            <a:off x="457200" y="1600200"/>
            <a:ext cx="8229600" cy="5105400"/>
          </a:xfrm>
        </p:spPr>
        <p:txBody>
          <a:bodyPr>
            <a:normAutofit fontScale="77500" lnSpcReduction="20000"/>
          </a:bodyPr>
          <a:lstStyle/>
          <a:p>
            <a:r>
              <a:rPr lang="en-US" dirty="0"/>
              <a:t>Now we'll add a similar matrix, "Q", to the brain of our agent, representing the memory of what the agent has learned through experience.  The rows of matrix Q represent the current state of the agent, and the columns represent the possible actions leading to the next state (the links between the nodes).</a:t>
            </a:r>
          </a:p>
          <a:p>
            <a:endParaRPr lang="en-US" dirty="0"/>
          </a:p>
          <a:p>
            <a:r>
              <a:rPr lang="en-US" dirty="0"/>
              <a:t>The agent starts out knowing nothing, the matrix Q is initialized to zero.  In this example, for the simplicity of explanation, we assume the number of states is known (to be six).  If we didn't know how many states were involved, the matrix Q could start out with only one element.  It is a simple task to add more columns and rows in matrix Q if a new state is found.</a:t>
            </a:r>
          </a:p>
          <a:p>
            <a:endParaRPr lang="en-US" dirty="0"/>
          </a:p>
        </p:txBody>
      </p:sp>
    </p:spTree>
    <p:extLst>
      <p:ext uri="{BB962C8B-B14F-4D97-AF65-F5344CB8AC3E}">
        <p14:creationId xmlns:p14="http://schemas.microsoft.com/office/powerpoint/2010/main" val="2332681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71F5-28BF-8449-BFF3-D5CADB1CCD71}"/>
              </a:ext>
            </a:extLst>
          </p:cNvPr>
          <p:cNvSpPr>
            <a:spLocks noGrp="1"/>
          </p:cNvSpPr>
          <p:nvPr>
            <p:ph type="title"/>
          </p:nvPr>
        </p:nvSpPr>
        <p:spPr/>
        <p:txBody>
          <a:bodyPr/>
          <a:lstStyle/>
          <a:p>
            <a:r>
              <a:rPr lang="en-US" dirty="0"/>
              <a:t>The Transition Rule</a:t>
            </a:r>
          </a:p>
        </p:txBody>
      </p:sp>
      <p:sp>
        <p:nvSpPr>
          <p:cNvPr id="3" name="Content Placeholder 2">
            <a:extLst>
              <a:ext uri="{FF2B5EF4-FFF2-40B4-BE49-F238E27FC236}">
                <a16:creationId xmlns:a16="http://schemas.microsoft.com/office/drawing/2014/main" id="{BA0C2165-CEFF-7C4E-8043-F589B28D4CC4}"/>
              </a:ext>
            </a:extLst>
          </p:cNvPr>
          <p:cNvSpPr>
            <a:spLocks noGrp="1"/>
          </p:cNvSpPr>
          <p:nvPr>
            <p:ph idx="1"/>
          </p:nvPr>
        </p:nvSpPr>
        <p:spPr/>
        <p:txBody>
          <a:bodyPr>
            <a:normAutofit fontScale="85000" lnSpcReduction="20000"/>
          </a:bodyPr>
          <a:lstStyle/>
          <a:p>
            <a:r>
              <a:rPr lang="en-US" dirty="0"/>
              <a:t>The transition rule of Q learning is a very simple formula:</a:t>
            </a:r>
          </a:p>
          <a:p>
            <a:pPr marL="0" indent="0">
              <a:buNone/>
            </a:pPr>
            <a:endParaRPr lang="en-US" dirty="0"/>
          </a:p>
          <a:p>
            <a:r>
              <a:rPr lang="en-US" dirty="0"/>
              <a:t>Q(state, action) = R(state, action) + Gamma * Max[Q(next state, all actions)]</a:t>
            </a:r>
          </a:p>
          <a:p>
            <a:pPr marL="0" indent="0">
              <a:buNone/>
            </a:pPr>
            <a:endParaRPr lang="en-US" dirty="0"/>
          </a:p>
          <a:p>
            <a:r>
              <a:rPr lang="en-US" dirty="0"/>
              <a:t>According to this formula, a value assigned to a specific element of matrix Q, is equal to the sum of the corresponding value in matrix R and the learning parameter Gamma, multiplied by the maximum value of Q for all possible actions in the next state.</a:t>
            </a:r>
          </a:p>
          <a:p>
            <a:endParaRPr lang="en-US" dirty="0"/>
          </a:p>
        </p:txBody>
      </p:sp>
    </p:spTree>
    <p:extLst>
      <p:ext uri="{BB962C8B-B14F-4D97-AF65-F5344CB8AC3E}">
        <p14:creationId xmlns:p14="http://schemas.microsoft.com/office/powerpoint/2010/main" val="1047635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F1971-CBBC-CE40-BB27-237319DE8C88}"/>
              </a:ext>
            </a:extLst>
          </p:cNvPr>
          <p:cNvSpPr>
            <a:spLocks noGrp="1"/>
          </p:cNvSpPr>
          <p:nvPr>
            <p:ph type="title"/>
          </p:nvPr>
        </p:nvSpPr>
        <p:spPr/>
        <p:txBody>
          <a:bodyPr/>
          <a:lstStyle/>
          <a:p>
            <a:r>
              <a:rPr lang="en-US" dirty="0"/>
              <a:t>Learning through experience</a:t>
            </a:r>
          </a:p>
        </p:txBody>
      </p:sp>
      <p:sp>
        <p:nvSpPr>
          <p:cNvPr id="3" name="Content Placeholder 2">
            <a:extLst>
              <a:ext uri="{FF2B5EF4-FFF2-40B4-BE49-F238E27FC236}">
                <a16:creationId xmlns:a16="http://schemas.microsoft.com/office/drawing/2014/main" id="{EBE8A234-FBD6-FE42-8D65-9CFCA174B0C6}"/>
              </a:ext>
            </a:extLst>
          </p:cNvPr>
          <p:cNvSpPr>
            <a:spLocks noGrp="1"/>
          </p:cNvSpPr>
          <p:nvPr>
            <p:ph idx="1"/>
          </p:nvPr>
        </p:nvSpPr>
        <p:spPr/>
        <p:txBody>
          <a:bodyPr>
            <a:normAutofit fontScale="92500" lnSpcReduction="10000"/>
          </a:bodyPr>
          <a:lstStyle/>
          <a:p>
            <a:r>
              <a:rPr lang="en-US" dirty="0"/>
              <a:t>Our virtual agent will learn through experience, without a teacher (this is unsupervised learning).  </a:t>
            </a:r>
          </a:p>
          <a:p>
            <a:r>
              <a:rPr lang="en-US" dirty="0"/>
              <a:t>The agent will explore from state to state until it reaches the goal. We'll call each exploration an episode.  </a:t>
            </a:r>
          </a:p>
          <a:p>
            <a:r>
              <a:rPr lang="en-US" dirty="0"/>
              <a:t>Each episode consists of the agent moving from the initial state to the goal state.  Each time the agent arrives at the goal state, the program goes to the next episode.</a:t>
            </a:r>
          </a:p>
        </p:txBody>
      </p:sp>
    </p:spTree>
    <p:extLst>
      <p:ext uri="{BB962C8B-B14F-4D97-AF65-F5344CB8AC3E}">
        <p14:creationId xmlns:p14="http://schemas.microsoft.com/office/powerpoint/2010/main" val="3281600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F386D-9E7F-CB44-A2E1-8B646DE300E4}"/>
              </a:ext>
            </a:extLst>
          </p:cNvPr>
          <p:cNvSpPr>
            <a:spLocks noGrp="1"/>
          </p:cNvSpPr>
          <p:nvPr>
            <p:ph type="title"/>
          </p:nvPr>
        </p:nvSpPr>
        <p:spPr>
          <a:xfrm>
            <a:off x="457200" y="274638"/>
            <a:ext cx="8229600" cy="1020762"/>
          </a:xfrm>
        </p:spPr>
        <p:txBody>
          <a:bodyPr>
            <a:normAutofit fontScale="90000"/>
          </a:bodyPr>
          <a:lstStyle/>
          <a:p>
            <a:r>
              <a:rPr lang="en-US" dirty="0"/>
              <a:t>The Q-Learning algorithm goes as follows:</a:t>
            </a:r>
          </a:p>
        </p:txBody>
      </p:sp>
      <p:sp>
        <p:nvSpPr>
          <p:cNvPr id="3" name="Content Placeholder 2">
            <a:extLst>
              <a:ext uri="{FF2B5EF4-FFF2-40B4-BE49-F238E27FC236}">
                <a16:creationId xmlns:a16="http://schemas.microsoft.com/office/drawing/2014/main" id="{D1493A0D-2B7B-9F4E-9943-7DE41CA1E1F3}"/>
              </a:ext>
            </a:extLst>
          </p:cNvPr>
          <p:cNvSpPr>
            <a:spLocks noGrp="1"/>
          </p:cNvSpPr>
          <p:nvPr>
            <p:ph idx="1"/>
          </p:nvPr>
        </p:nvSpPr>
        <p:spPr>
          <a:xfrm>
            <a:off x="457200" y="1600200"/>
            <a:ext cx="8686800" cy="4525963"/>
          </a:xfrm>
        </p:spPr>
        <p:txBody>
          <a:bodyPr>
            <a:normAutofit fontScale="62500" lnSpcReduction="20000"/>
          </a:bodyPr>
          <a:lstStyle/>
          <a:p>
            <a:pPr marL="0" indent="0">
              <a:buNone/>
            </a:pPr>
            <a:endParaRPr lang="en-US" dirty="0"/>
          </a:p>
          <a:p>
            <a:pPr marL="0" indent="0">
              <a:buNone/>
            </a:pPr>
            <a:r>
              <a:rPr lang="en-US" dirty="0"/>
              <a:t>Set the gamma parameter, and environment rewards in matrix R.</a:t>
            </a:r>
          </a:p>
          <a:p>
            <a:pPr marL="0" indent="0">
              <a:buNone/>
            </a:pPr>
            <a:endParaRPr lang="en-US" dirty="0"/>
          </a:p>
          <a:p>
            <a:pPr marL="0" indent="0">
              <a:buNone/>
            </a:pPr>
            <a:r>
              <a:rPr lang="en-US" dirty="0"/>
              <a:t>Initialize matrix Q to zero.</a:t>
            </a:r>
          </a:p>
          <a:p>
            <a:pPr marL="0" indent="0">
              <a:buNone/>
            </a:pPr>
            <a:endParaRPr lang="en-US" dirty="0"/>
          </a:p>
          <a:p>
            <a:pPr marL="0" indent="0">
              <a:buNone/>
            </a:pPr>
            <a:r>
              <a:rPr lang="en-US" dirty="0"/>
              <a:t>For each episode:</a:t>
            </a:r>
          </a:p>
          <a:p>
            <a:pPr marL="457200" lvl="1" indent="0">
              <a:buNone/>
            </a:pPr>
            <a:r>
              <a:rPr lang="en-US" dirty="0"/>
              <a:t>Select a random initial state.</a:t>
            </a:r>
          </a:p>
          <a:p>
            <a:pPr marL="457200" lvl="1" indent="0">
              <a:buNone/>
            </a:pPr>
            <a:r>
              <a:rPr lang="en-US" dirty="0"/>
              <a:t>Do While the goal state hasn't been reached.</a:t>
            </a:r>
          </a:p>
          <a:p>
            <a:pPr marL="914400" lvl="2" indent="0">
              <a:buNone/>
            </a:pPr>
            <a:r>
              <a:rPr lang="en-US" dirty="0"/>
              <a:t>Select one among all possible actions for the current state.</a:t>
            </a:r>
          </a:p>
          <a:p>
            <a:pPr marL="914400" lvl="2" indent="0">
              <a:buNone/>
            </a:pPr>
            <a:r>
              <a:rPr lang="en-US" dirty="0"/>
              <a:t>Using this possible action, consider going to the next state.</a:t>
            </a:r>
          </a:p>
          <a:p>
            <a:pPr marL="914400" lvl="2" indent="0">
              <a:buNone/>
            </a:pPr>
            <a:r>
              <a:rPr lang="en-US" dirty="0"/>
              <a:t>Get maximum Q value for this next state based on all possible actions.</a:t>
            </a:r>
          </a:p>
          <a:p>
            <a:pPr marL="914400" lvl="2" indent="0">
              <a:buNone/>
            </a:pPr>
            <a:r>
              <a:rPr lang="en-US" dirty="0"/>
              <a:t>Compute: Q(state, action) = R(state, action) + Gamma * Max[Q(next state, all actions)]</a:t>
            </a:r>
          </a:p>
          <a:p>
            <a:pPr marL="914400" lvl="2" indent="0">
              <a:buNone/>
            </a:pPr>
            <a:r>
              <a:rPr lang="en-US" dirty="0"/>
              <a:t>Set the next state as the current state.</a:t>
            </a:r>
          </a:p>
          <a:p>
            <a:pPr marL="514350" lvl="1" indent="0">
              <a:buNone/>
            </a:pPr>
            <a:r>
              <a:rPr lang="en-US" dirty="0"/>
              <a:t>End Do</a:t>
            </a:r>
          </a:p>
          <a:p>
            <a:pPr marL="0" indent="0">
              <a:buNone/>
            </a:pPr>
            <a:r>
              <a:rPr lang="en-US" dirty="0"/>
              <a:t>End For</a:t>
            </a:r>
          </a:p>
          <a:p>
            <a:endParaRPr lang="en-US" dirty="0"/>
          </a:p>
        </p:txBody>
      </p:sp>
    </p:spTree>
    <p:extLst>
      <p:ext uri="{BB962C8B-B14F-4D97-AF65-F5344CB8AC3E}">
        <p14:creationId xmlns:p14="http://schemas.microsoft.com/office/powerpoint/2010/main" val="58048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7B981-7B43-8A4C-AA54-C3CDA197397B}"/>
              </a:ext>
            </a:extLst>
          </p:cNvPr>
          <p:cNvSpPr>
            <a:spLocks noGrp="1"/>
          </p:cNvSpPr>
          <p:nvPr>
            <p:ph type="title"/>
          </p:nvPr>
        </p:nvSpPr>
        <p:spPr>
          <a:xfrm>
            <a:off x="457200" y="152400"/>
            <a:ext cx="8229600" cy="1143000"/>
          </a:xfrm>
        </p:spPr>
        <p:txBody>
          <a:bodyPr>
            <a:normAutofit fontScale="90000"/>
          </a:bodyPr>
          <a:lstStyle/>
          <a:p>
            <a:r>
              <a:rPr lang="en-US" dirty="0"/>
              <a:t>The Q matrix is the brain of the agent</a:t>
            </a:r>
          </a:p>
        </p:txBody>
      </p:sp>
      <p:sp>
        <p:nvSpPr>
          <p:cNvPr id="3" name="Content Placeholder 2">
            <a:extLst>
              <a:ext uri="{FF2B5EF4-FFF2-40B4-BE49-F238E27FC236}">
                <a16:creationId xmlns:a16="http://schemas.microsoft.com/office/drawing/2014/main" id="{4B76CF0B-C04A-7641-9952-959AD86BAC8B}"/>
              </a:ext>
            </a:extLst>
          </p:cNvPr>
          <p:cNvSpPr>
            <a:spLocks noGrp="1"/>
          </p:cNvSpPr>
          <p:nvPr>
            <p:ph idx="1"/>
          </p:nvPr>
        </p:nvSpPr>
        <p:spPr/>
        <p:txBody>
          <a:bodyPr>
            <a:normAutofit fontScale="92500" lnSpcReduction="20000"/>
          </a:bodyPr>
          <a:lstStyle/>
          <a:p>
            <a:r>
              <a:rPr lang="en-US" dirty="0"/>
              <a:t>The algorithm above is used by the agent to learn from experience.  Each episode is equivalent to one training session.  </a:t>
            </a:r>
          </a:p>
          <a:p>
            <a:r>
              <a:rPr lang="en-US" dirty="0"/>
              <a:t>In each training session, the agent explores the environment (represented by matrix R ), receives the reward (if any) until it reaches the goal state. </a:t>
            </a:r>
          </a:p>
          <a:p>
            <a:r>
              <a:rPr lang="en-US" dirty="0"/>
              <a:t>The purpose of the training is to enhance the 'brain' of our agent, represented by matrix Q.  More training results in a more optimized matrix Q.  </a:t>
            </a:r>
          </a:p>
        </p:txBody>
      </p:sp>
    </p:spTree>
    <p:extLst>
      <p:ext uri="{BB962C8B-B14F-4D97-AF65-F5344CB8AC3E}">
        <p14:creationId xmlns:p14="http://schemas.microsoft.com/office/powerpoint/2010/main" val="3179939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45426-F3E6-6449-A4D0-BEBE32749628}"/>
              </a:ext>
            </a:extLst>
          </p:cNvPr>
          <p:cNvSpPr>
            <a:spLocks noGrp="1"/>
          </p:cNvSpPr>
          <p:nvPr>
            <p:ph type="title"/>
          </p:nvPr>
        </p:nvSpPr>
        <p:spPr/>
        <p:txBody>
          <a:bodyPr/>
          <a:lstStyle/>
          <a:p>
            <a:r>
              <a:rPr lang="en-US" dirty="0"/>
              <a:t>Using the Q-matrix</a:t>
            </a:r>
          </a:p>
        </p:txBody>
      </p:sp>
      <p:sp>
        <p:nvSpPr>
          <p:cNvPr id="3" name="Content Placeholder 2">
            <a:extLst>
              <a:ext uri="{FF2B5EF4-FFF2-40B4-BE49-F238E27FC236}">
                <a16:creationId xmlns:a16="http://schemas.microsoft.com/office/drawing/2014/main" id="{1B6E86F4-BA4E-3B41-A0A2-6BBF1A862FFD}"/>
              </a:ext>
            </a:extLst>
          </p:cNvPr>
          <p:cNvSpPr>
            <a:spLocks noGrp="1"/>
          </p:cNvSpPr>
          <p:nvPr>
            <p:ph idx="1"/>
          </p:nvPr>
        </p:nvSpPr>
        <p:spPr/>
        <p:txBody>
          <a:bodyPr>
            <a:normAutofit fontScale="77500" lnSpcReduction="20000"/>
          </a:bodyPr>
          <a:lstStyle/>
          <a:p>
            <a:pPr marL="0" indent="0">
              <a:buNone/>
            </a:pPr>
            <a:r>
              <a:rPr lang="en-US" dirty="0"/>
              <a:t>Algorithm to utilize the Q matrix:</a:t>
            </a:r>
          </a:p>
          <a:p>
            <a:pPr marL="0" indent="0">
              <a:buNone/>
            </a:pPr>
            <a:endParaRPr lang="en-US" dirty="0"/>
          </a:p>
          <a:p>
            <a:pPr marL="514350" indent="-514350">
              <a:buFont typeface="+mj-lt"/>
              <a:buAutoNum type="arabicPeriod"/>
            </a:pPr>
            <a:r>
              <a:rPr lang="en-US" dirty="0"/>
              <a:t>Set current state = initial state.</a:t>
            </a:r>
          </a:p>
          <a:p>
            <a:pPr marL="514350" indent="-514350">
              <a:buFont typeface="+mj-lt"/>
              <a:buAutoNum type="arabicPeriod"/>
            </a:pPr>
            <a:r>
              <a:rPr lang="en-US" dirty="0"/>
              <a:t>From current state, find the action with the highest Q value.</a:t>
            </a:r>
          </a:p>
          <a:p>
            <a:pPr marL="514350" indent="-514350">
              <a:buFont typeface="+mj-lt"/>
              <a:buAutoNum type="arabicPeriod"/>
            </a:pPr>
            <a:r>
              <a:rPr lang="en-US" dirty="0"/>
              <a:t>Set current state = next state.</a:t>
            </a:r>
          </a:p>
          <a:p>
            <a:pPr marL="514350" indent="-514350">
              <a:buFont typeface="+mj-lt"/>
              <a:buAutoNum type="arabicPeriod"/>
            </a:pPr>
            <a:r>
              <a:rPr lang="en-US" dirty="0"/>
              <a:t>Repeat Steps 2 and 3 until current state = goal state.</a:t>
            </a:r>
          </a:p>
          <a:p>
            <a:endParaRPr lang="en-US" dirty="0"/>
          </a:p>
          <a:p>
            <a:pPr marL="0" indent="0">
              <a:buNone/>
            </a:pPr>
            <a:r>
              <a:rPr lang="en-US" dirty="0"/>
              <a:t>The algorithm above will return the sequence of states from the initial state to the goal state.</a:t>
            </a:r>
          </a:p>
          <a:p>
            <a:pPr marL="0" indent="0">
              <a:buNone/>
            </a:pPr>
            <a:br>
              <a:rPr lang="en-US" dirty="0"/>
            </a:br>
            <a:endParaRPr lang="en-US" dirty="0"/>
          </a:p>
        </p:txBody>
      </p:sp>
    </p:spTree>
    <p:extLst>
      <p:ext uri="{BB962C8B-B14F-4D97-AF65-F5344CB8AC3E}">
        <p14:creationId xmlns:p14="http://schemas.microsoft.com/office/powerpoint/2010/main" val="2715878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2A6CF-883D-9D4B-B2E9-D81D73EB996F}"/>
              </a:ext>
            </a:extLst>
          </p:cNvPr>
          <p:cNvSpPr>
            <a:spLocks noGrp="1"/>
          </p:cNvSpPr>
          <p:nvPr>
            <p:ph type="title"/>
          </p:nvPr>
        </p:nvSpPr>
        <p:spPr/>
        <p:txBody>
          <a:bodyPr/>
          <a:lstStyle/>
          <a:p>
            <a:r>
              <a:rPr lang="en-US" dirty="0"/>
              <a:t>Illustrating the algorithm</a:t>
            </a:r>
          </a:p>
        </p:txBody>
      </p:sp>
      <p:sp>
        <p:nvSpPr>
          <p:cNvPr id="3" name="Content Placeholder 2">
            <a:extLst>
              <a:ext uri="{FF2B5EF4-FFF2-40B4-BE49-F238E27FC236}">
                <a16:creationId xmlns:a16="http://schemas.microsoft.com/office/drawing/2014/main" id="{355FC4EC-54BA-974F-8FE7-6529CA9CFA20}"/>
              </a:ext>
            </a:extLst>
          </p:cNvPr>
          <p:cNvSpPr>
            <a:spLocks noGrp="1"/>
          </p:cNvSpPr>
          <p:nvPr>
            <p:ph idx="1"/>
          </p:nvPr>
        </p:nvSpPr>
        <p:spPr>
          <a:xfrm>
            <a:off x="533400" y="5181600"/>
            <a:ext cx="8229600" cy="1371600"/>
          </a:xfrm>
        </p:spPr>
        <p:txBody>
          <a:bodyPr>
            <a:normAutofit fontScale="70000" lnSpcReduction="20000"/>
          </a:bodyPr>
          <a:lstStyle/>
          <a:p>
            <a:r>
              <a:rPr lang="en-US" dirty="0"/>
              <a:t>Initialize matrix Q as a zero matrix</a:t>
            </a:r>
          </a:p>
          <a:p>
            <a:r>
              <a:rPr lang="en-US" dirty="0"/>
              <a:t>There are two possible actions for the current state 1: go to state 3, or go to state 5. By random selection, we select to go to 5 as our action.</a:t>
            </a:r>
          </a:p>
        </p:txBody>
      </p:sp>
      <p:pic>
        <p:nvPicPr>
          <p:cNvPr id="5" name="Picture 4">
            <a:extLst>
              <a:ext uri="{FF2B5EF4-FFF2-40B4-BE49-F238E27FC236}">
                <a16:creationId xmlns:a16="http://schemas.microsoft.com/office/drawing/2014/main" id="{2BC75411-992C-8E4E-80FC-D2917C593B6F}"/>
              </a:ext>
            </a:extLst>
          </p:cNvPr>
          <p:cNvPicPr>
            <a:picLocks noChangeAspect="1"/>
          </p:cNvPicPr>
          <p:nvPr/>
        </p:nvPicPr>
        <p:blipFill>
          <a:blip r:embed="rId2"/>
          <a:stretch>
            <a:fillRect/>
          </a:stretch>
        </p:blipFill>
        <p:spPr>
          <a:xfrm>
            <a:off x="533400" y="1895576"/>
            <a:ext cx="3556797" cy="2773362"/>
          </a:xfrm>
          <a:prstGeom prst="rect">
            <a:avLst/>
          </a:prstGeom>
        </p:spPr>
      </p:pic>
      <p:pic>
        <p:nvPicPr>
          <p:cNvPr id="6" name="Picture 5">
            <a:extLst>
              <a:ext uri="{FF2B5EF4-FFF2-40B4-BE49-F238E27FC236}">
                <a16:creationId xmlns:a16="http://schemas.microsoft.com/office/drawing/2014/main" id="{FC717996-7E7A-E041-AF9B-8835CF00C3B7}"/>
              </a:ext>
            </a:extLst>
          </p:cNvPr>
          <p:cNvPicPr>
            <a:picLocks noChangeAspect="1"/>
          </p:cNvPicPr>
          <p:nvPr/>
        </p:nvPicPr>
        <p:blipFill>
          <a:blip r:embed="rId3"/>
          <a:stretch>
            <a:fillRect/>
          </a:stretch>
        </p:blipFill>
        <p:spPr>
          <a:xfrm>
            <a:off x="4419600" y="1999557"/>
            <a:ext cx="3860800" cy="2565400"/>
          </a:xfrm>
          <a:prstGeom prst="rect">
            <a:avLst/>
          </a:prstGeom>
        </p:spPr>
      </p:pic>
    </p:spTree>
    <p:extLst>
      <p:ext uri="{BB962C8B-B14F-4D97-AF65-F5344CB8AC3E}">
        <p14:creationId xmlns:p14="http://schemas.microsoft.com/office/powerpoint/2010/main" val="460014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24F27-4491-FF40-AE8D-421B0013488C}"/>
              </a:ext>
            </a:extLst>
          </p:cNvPr>
          <p:cNvSpPr>
            <a:spLocks noGrp="1"/>
          </p:cNvSpPr>
          <p:nvPr>
            <p:ph type="title"/>
          </p:nvPr>
        </p:nvSpPr>
        <p:spPr/>
        <p:txBody>
          <a:bodyPr/>
          <a:lstStyle/>
          <a:p>
            <a:r>
              <a:rPr lang="en-US" dirty="0"/>
              <a:t>The first update of the Q matrix</a:t>
            </a:r>
          </a:p>
        </p:txBody>
      </p:sp>
      <p:sp>
        <p:nvSpPr>
          <p:cNvPr id="3" name="Content Placeholder 2">
            <a:extLst>
              <a:ext uri="{FF2B5EF4-FFF2-40B4-BE49-F238E27FC236}">
                <a16:creationId xmlns:a16="http://schemas.microsoft.com/office/drawing/2014/main" id="{B5BC4601-52E4-A84F-B76A-679CD2083EB5}"/>
              </a:ext>
            </a:extLst>
          </p:cNvPr>
          <p:cNvSpPr>
            <a:spLocks noGrp="1"/>
          </p:cNvSpPr>
          <p:nvPr>
            <p:ph idx="1"/>
          </p:nvPr>
        </p:nvSpPr>
        <p:spPr>
          <a:xfrm>
            <a:off x="533400" y="1828800"/>
            <a:ext cx="8229600" cy="1173163"/>
          </a:xfrm>
        </p:spPr>
        <p:txBody>
          <a:bodyPr>
            <a:normAutofit fontScale="47500" lnSpcReduction="20000"/>
          </a:bodyPr>
          <a:lstStyle/>
          <a:p>
            <a:r>
              <a:rPr lang="en-US" dirty="0"/>
              <a:t>Now let's imagine what would happen if our agent were in state 5.  Look at the sixth row of the reward matrix R (i.e. state 5).  It has 3 possible actions: go to state 1, 4 or 5.</a:t>
            </a:r>
          </a:p>
          <a:p>
            <a:r>
              <a:rPr lang="en-US" dirty="0"/>
              <a:t>Q(state, action) = R(state, action) + Gamma * Max[Q(next state, all actions)]</a:t>
            </a:r>
          </a:p>
          <a:p>
            <a:r>
              <a:rPr lang="en-US" dirty="0"/>
              <a:t>Q(1, 5) = R(1, 5) + 0.8 * Max[Q(5, 1), Q(5, 4), Q(5, 5)] = 100 + 0.8 * 0 = 100</a:t>
            </a:r>
          </a:p>
          <a:p>
            <a:endParaRPr lang="en-US" dirty="0"/>
          </a:p>
        </p:txBody>
      </p:sp>
      <p:pic>
        <p:nvPicPr>
          <p:cNvPr id="5" name="Picture 4">
            <a:extLst>
              <a:ext uri="{FF2B5EF4-FFF2-40B4-BE49-F238E27FC236}">
                <a16:creationId xmlns:a16="http://schemas.microsoft.com/office/drawing/2014/main" id="{DF127842-2D02-444F-A3A6-9EA70F90E2E9}"/>
              </a:ext>
            </a:extLst>
          </p:cNvPr>
          <p:cNvPicPr>
            <a:picLocks noChangeAspect="1"/>
          </p:cNvPicPr>
          <p:nvPr/>
        </p:nvPicPr>
        <p:blipFill>
          <a:blip r:embed="rId2"/>
          <a:stretch>
            <a:fillRect/>
          </a:stretch>
        </p:blipFill>
        <p:spPr>
          <a:xfrm>
            <a:off x="2438400" y="3413125"/>
            <a:ext cx="3429000" cy="2235200"/>
          </a:xfrm>
          <a:prstGeom prst="rect">
            <a:avLst/>
          </a:prstGeom>
        </p:spPr>
      </p:pic>
    </p:spTree>
    <p:extLst>
      <p:ext uri="{BB962C8B-B14F-4D97-AF65-F5344CB8AC3E}">
        <p14:creationId xmlns:p14="http://schemas.microsoft.com/office/powerpoint/2010/main" val="4050168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24F27-4491-FF40-AE8D-421B0013488C}"/>
              </a:ext>
            </a:extLst>
          </p:cNvPr>
          <p:cNvSpPr>
            <a:spLocks noGrp="1"/>
          </p:cNvSpPr>
          <p:nvPr>
            <p:ph type="title"/>
          </p:nvPr>
        </p:nvSpPr>
        <p:spPr/>
        <p:txBody>
          <a:bodyPr/>
          <a:lstStyle/>
          <a:p>
            <a:r>
              <a:rPr lang="en-US" dirty="0"/>
              <a:t>Next Episode</a:t>
            </a:r>
          </a:p>
        </p:txBody>
      </p:sp>
      <p:sp>
        <p:nvSpPr>
          <p:cNvPr id="3" name="Content Placeholder 2">
            <a:extLst>
              <a:ext uri="{FF2B5EF4-FFF2-40B4-BE49-F238E27FC236}">
                <a16:creationId xmlns:a16="http://schemas.microsoft.com/office/drawing/2014/main" id="{B5BC4601-52E4-A84F-B76A-679CD2083EB5}"/>
              </a:ext>
            </a:extLst>
          </p:cNvPr>
          <p:cNvSpPr>
            <a:spLocks noGrp="1"/>
          </p:cNvSpPr>
          <p:nvPr>
            <p:ph idx="1"/>
          </p:nvPr>
        </p:nvSpPr>
        <p:spPr>
          <a:xfrm>
            <a:off x="152400" y="1417638"/>
            <a:ext cx="8991600" cy="2468562"/>
          </a:xfrm>
        </p:spPr>
        <p:txBody>
          <a:bodyPr>
            <a:normAutofit fontScale="47500" lnSpcReduction="20000"/>
          </a:bodyPr>
          <a:lstStyle/>
          <a:p>
            <a:r>
              <a:rPr lang="en-US" dirty="0"/>
              <a:t>For the next episode, we start with a randomly chosen initial state.  This time, we have state 3 as our initial state.</a:t>
            </a:r>
          </a:p>
          <a:p>
            <a:r>
              <a:rPr lang="en-US" dirty="0"/>
              <a:t>Look at the fourth row of matrix R; it has 3 possible actions: go to state 1, 2 or 4.  By random selection, we select to go to state 1 as our action.</a:t>
            </a:r>
          </a:p>
          <a:p>
            <a:r>
              <a:rPr lang="en-US" dirty="0"/>
              <a:t>Now we imagine that we are in state 1.  Look at the second row of reward matrix R (i.e. state 1).  It has 2 possible actions: go to state 3 or state 5.  Then, we compute the Q value:</a:t>
            </a:r>
          </a:p>
          <a:p>
            <a:r>
              <a:rPr lang="en-US" dirty="0"/>
              <a:t>Q(state, action) = R(state, action) + Gamma * Max[Q(next state, all actions)]</a:t>
            </a:r>
          </a:p>
          <a:p>
            <a:r>
              <a:rPr lang="en-US" dirty="0"/>
              <a:t>Q(3, 1) = R(3, 1) + 0.8 * Max[Q(1, 3), Q(1, 5)] = 0 + 0.8 * Max(0, 100) = 80</a:t>
            </a:r>
          </a:p>
          <a:p>
            <a:r>
              <a:rPr lang="en-US" dirty="0"/>
              <a:t>We use the updated matrix Q from the last episode.  Q(1, 3) = 0 and Q(1, 5) = 100.  The result of the computation is Q(3, 1) = 80 because the reward is zero.  </a:t>
            </a:r>
          </a:p>
          <a:p>
            <a:r>
              <a:rPr lang="en-US" dirty="0"/>
              <a:t>The matrix Q becomes:</a:t>
            </a:r>
          </a:p>
          <a:p>
            <a:endParaRPr lang="en-US" dirty="0"/>
          </a:p>
        </p:txBody>
      </p:sp>
      <p:pic>
        <p:nvPicPr>
          <p:cNvPr id="4" name="Picture 3">
            <a:extLst>
              <a:ext uri="{FF2B5EF4-FFF2-40B4-BE49-F238E27FC236}">
                <a16:creationId xmlns:a16="http://schemas.microsoft.com/office/drawing/2014/main" id="{6D22627F-F6CC-4E4D-A59E-C9C606E956FA}"/>
              </a:ext>
            </a:extLst>
          </p:cNvPr>
          <p:cNvPicPr>
            <a:picLocks noChangeAspect="1"/>
          </p:cNvPicPr>
          <p:nvPr/>
        </p:nvPicPr>
        <p:blipFill>
          <a:blip r:embed="rId2"/>
          <a:stretch>
            <a:fillRect/>
          </a:stretch>
        </p:blipFill>
        <p:spPr>
          <a:xfrm>
            <a:off x="990600" y="4114800"/>
            <a:ext cx="4356100" cy="2298700"/>
          </a:xfrm>
          <a:prstGeom prst="rect">
            <a:avLst/>
          </a:prstGeom>
        </p:spPr>
      </p:pic>
      <p:sp>
        <p:nvSpPr>
          <p:cNvPr id="6" name="TextBox 5">
            <a:extLst>
              <a:ext uri="{FF2B5EF4-FFF2-40B4-BE49-F238E27FC236}">
                <a16:creationId xmlns:a16="http://schemas.microsoft.com/office/drawing/2014/main" id="{6B05E779-681B-BD40-A5E2-517AB24FDEA5}"/>
              </a:ext>
            </a:extLst>
          </p:cNvPr>
          <p:cNvSpPr txBox="1"/>
          <p:nvPr/>
        </p:nvSpPr>
        <p:spPr>
          <a:xfrm>
            <a:off x="5943600" y="4114800"/>
            <a:ext cx="2133600" cy="646331"/>
          </a:xfrm>
          <a:prstGeom prst="rect">
            <a:avLst/>
          </a:prstGeom>
          <a:noFill/>
        </p:spPr>
        <p:txBody>
          <a:bodyPr wrap="square" rtlCol="0">
            <a:spAutoFit/>
          </a:bodyPr>
          <a:lstStyle/>
          <a:p>
            <a:r>
              <a:rPr lang="en-US" dirty="0"/>
              <a:t>Are we done with the episode?</a:t>
            </a:r>
          </a:p>
        </p:txBody>
      </p:sp>
    </p:spTree>
    <p:extLst>
      <p:ext uri="{BB962C8B-B14F-4D97-AF65-F5344CB8AC3E}">
        <p14:creationId xmlns:p14="http://schemas.microsoft.com/office/powerpoint/2010/main" val="3092790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5067E-128B-D541-8EC5-3B725D9E4D14}"/>
              </a:ext>
            </a:extLst>
          </p:cNvPr>
          <p:cNvSpPr>
            <a:spLocks noGrp="1"/>
          </p:cNvSpPr>
          <p:nvPr>
            <p:ph type="title"/>
          </p:nvPr>
        </p:nvSpPr>
        <p:spPr/>
        <p:txBody>
          <a:bodyPr/>
          <a:lstStyle/>
          <a:p>
            <a:r>
              <a:rPr lang="en-US" dirty="0"/>
              <a:t>The Episode Continues</a:t>
            </a:r>
          </a:p>
        </p:txBody>
      </p:sp>
      <p:sp>
        <p:nvSpPr>
          <p:cNvPr id="3" name="Content Placeholder 2">
            <a:extLst>
              <a:ext uri="{FF2B5EF4-FFF2-40B4-BE49-F238E27FC236}">
                <a16:creationId xmlns:a16="http://schemas.microsoft.com/office/drawing/2014/main" id="{77C63B16-4291-4943-9390-886C074937F4}"/>
              </a:ext>
            </a:extLst>
          </p:cNvPr>
          <p:cNvSpPr>
            <a:spLocks noGrp="1"/>
          </p:cNvSpPr>
          <p:nvPr>
            <p:ph idx="1"/>
          </p:nvPr>
        </p:nvSpPr>
        <p:spPr/>
        <p:txBody>
          <a:bodyPr>
            <a:normAutofit fontScale="70000" lnSpcReduction="20000"/>
          </a:bodyPr>
          <a:lstStyle/>
          <a:p>
            <a:r>
              <a:rPr lang="en-US" dirty="0"/>
              <a:t>Starting the new loop with the current state 1, there are two possible actions: go to state 3, or go to state 5.  By </a:t>
            </a:r>
            <a:r>
              <a:rPr lang="en-US" u="sng" dirty="0"/>
              <a:t>lucky draw</a:t>
            </a:r>
            <a:r>
              <a:rPr lang="en-US" dirty="0"/>
              <a:t>, our action selected is 5.</a:t>
            </a:r>
          </a:p>
          <a:p>
            <a:r>
              <a:rPr lang="en-US" dirty="0"/>
              <a:t>Now, imaging we're in state 5, there are three possible actions: go to state 1, 4 or 5.  We compute the Q value using the maximum value of these possible actions.</a:t>
            </a:r>
          </a:p>
          <a:p>
            <a:pPr marL="0" indent="0">
              <a:buNone/>
            </a:pPr>
            <a:r>
              <a:rPr lang="en-US" dirty="0"/>
              <a:t>	Q(state, action) = R(state, action) + Gamma * 	Max[Q(next state, all actions)]</a:t>
            </a:r>
          </a:p>
          <a:p>
            <a:endParaRPr lang="en-US" dirty="0"/>
          </a:p>
          <a:p>
            <a:pPr marL="0" indent="0">
              <a:buNone/>
            </a:pPr>
            <a:r>
              <a:rPr lang="en-US" dirty="0"/>
              <a:t>	Q(1, 5) = R(1, 5) + 0.8 * Max[Q(5, 1), Q(5, 4), Q(5, 	5)] = 	100 + 0.8 * 0 = 100</a:t>
            </a:r>
          </a:p>
          <a:p>
            <a:pPr marL="0" indent="0">
              <a:buNone/>
            </a:pPr>
            <a:endParaRPr lang="en-US" dirty="0"/>
          </a:p>
          <a:p>
            <a:r>
              <a:rPr lang="en-US" dirty="0"/>
              <a:t>The Q matrix remains unchanged.</a:t>
            </a:r>
            <a:br>
              <a:rPr lang="en-US" dirty="0"/>
            </a:br>
            <a:endParaRPr lang="en-US" dirty="0"/>
          </a:p>
        </p:txBody>
      </p:sp>
    </p:spTree>
    <p:extLst>
      <p:ext uri="{BB962C8B-B14F-4D97-AF65-F5344CB8AC3E}">
        <p14:creationId xmlns:p14="http://schemas.microsoft.com/office/powerpoint/2010/main" val="4140721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4B54B-B211-AC48-A7A5-590B7CEAB782}"/>
              </a:ext>
            </a:extLst>
          </p:cNvPr>
          <p:cNvSpPr>
            <a:spLocks noGrp="1"/>
          </p:cNvSpPr>
          <p:nvPr>
            <p:ph type="title"/>
          </p:nvPr>
        </p:nvSpPr>
        <p:spPr/>
        <p:txBody>
          <a:bodyPr>
            <a:normAutofit fontScale="90000"/>
          </a:bodyPr>
          <a:lstStyle/>
          <a:p>
            <a:r>
              <a:rPr lang="en-US" dirty="0"/>
              <a:t>Continue Learning to Convergence</a:t>
            </a:r>
          </a:p>
        </p:txBody>
      </p:sp>
      <p:pic>
        <p:nvPicPr>
          <p:cNvPr id="4" name="Picture 3">
            <a:extLst>
              <a:ext uri="{FF2B5EF4-FFF2-40B4-BE49-F238E27FC236}">
                <a16:creationId xmlns:a16="http://schemas.microsoft.com/office/drawing/2014/main" id="{94D100FF-1772-F64A-BD81-A001E82D5433}"/>
              </a:ext>
            </a:extLst>
          </p:cNvPr>
          <p:cNvPicPr>
            <a:picLocks noChangeAspect="1"/>
          </p:cNvPicPr>
          <p:nvPr/>
        </p:nvPicPr>
        <p:blipFill>
          <a:blip r:embed="rId2"/>
          <a:stretch>
            <a:fillRect/>
          </a:stretch>
        </p:blipFill>
        <p:spPr>
          <a:xfrm>
            <a:off x="609600" y="1600200"/>
            <a:ext cx="4406900" cy="2222500"/>
          </a:xfrm>
          <a:prstGeom prst="rect">
            <a:avLst/>
          </a:prstGeom>
        </p:spPr>
      </p:pic>
      <p:pic>
        <p:nvPicPr>
          <p:cNvPr id="6" name="Picture 5">
            <a:extLst>
              <a:ext uri="{FF2B5EF4-FFF2-40B4-BE49-F238E27FC236}">
                <a16:creationId xmlns:a16="http://schemas.microsoft.com/office/drawing/2014/main" id="{BEA92C51-3EEC-C54A-9A70-6BCBC65DF42C}"/>
              </a:ext>
            </a:extLst>
          </p:cNvPr>
          <p:cNvPicPr>
            <a:picLocks noChangeAspect="1"/>
          </p:cNvPicPr>
          <p:nvPr/>
        </p:nvPicPr>
        <p:blipFill>
          <a:blip r:embed="rId3"/>
          <a:stretch>
            <a:fillRect/>
          </a:stretch>
        </p:blipFill>
        <p:spPr>
          <a:xfrm>
            <a:off x="4572000" y="4114800"/>
            <a:ext cx="4254500" cy="2235200"/>
          </a:xfrm>
          <a:prstGeom prst="rect">
            <a:avLst/>
          </a:prstGeom>
        </p:spPr>
      </p:pic>
      <p:sp>
        <p:nvSpPr>
          <p:cNvPr id="7" name="TextBox 6">
            <a:extLst>
              <a:ext uri="{FF2B5EF4-FFF2-40B4-BE49-F238E27FC236}">
                <a16:creationId xmlns:a16="http://schemas.microsoft.com/office/drawing/2014/main" id="{CE56E508-2EC6-A246-A943-203D1B1E1C48}"/>
              </a:ext>
            </a:extLst>
          </p:cNvPr>
          <p:cNvSpPr txBox="1"/>
          <p:nvPr/>
        </p:nvSpPr>
        <p:spPr>
          <a:xfrm>
            <a:off x="6324600" y="3657600"/>
            <a:ext cx="1223412" cy="369332"/>
          </a:xfrm>
          <a:prstGeom prst="rect">
            <a:avLst/>
          </a:prstGeom>
          <a:noFill/>
        </p:spPr>
        <p:txBody>
          <a:bodyPr wrap="none" rtlCol="0">
            <a:spAutoFit/>
          </a:bodyPr>
          <a:lstStyle/>
          <a:p>
            <a:r>
              <a:rPr lang="en-US" dirty="0"/>
              <a:t>Normalize</a:t>
            </a:r>
          </a:p>
        </p:txBody>
      </p:sp>
    </p:spTree>
    <p:extLst>
      <p:ext uri="{BB962C8B-B14F-4D97-AF65-F5344CB8AC3E}">
        <p14:creationId xmlns:p14="http://schemas.microsoft.com/office/powerpoint/2010/main" val="28986954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66525-FFEF-2243-AB5D-67FF0BD249CC}"/>
              </a:ext>
            </a:extLst>
          </p:cNvPr>
          <p:cNvSpPr>
            <a:spLocks noGrp="1"/>
          </p:cNvSpPr>
          <p:nvPr>
            <p:ph type="title"/>
          </p:nvPr>
        </p:nvSpPr>
        <p:spPr/>
        <p:txBody>
          <a:bodyPr/>
          <a:lstStyle/>
          <a:p>
            <a:r>
              <a:rPr lang="en-US" dirty="0"/>
              <a:t>Using the Q-matrix</a:t>
            </a:r>
          </a:p>
        </p:txBody>
      </p:sp>
      <p:pic>
        <p:nvPicPr>
          <p:cNvPr id="5" name="Picture 4">
            <a:extLst>
              <a:ext uri="{FF2B5EF4-FFF2-40B4-BE49-F238E27FC236}">
                <a16:creationId xmlns:a16="http://schemas.microsoft.com/office/drawing/2014/main" id="{D3035B95-908B-3B4F-8EFB-D7760E843130}"/>
              </a:ext>
            </a:extLst>
          </p:cNvPr>
          <p:cNvPicPr>
            <a:picLocks noChangeAspect="1"/>
          </p:cNvPicPr>
          <p:nvPr/>
        </p:nvPicPr>
        <p:blipFill>
          <a:blip r:embed="rId2"/>
          <a:stretch>
            <a:fillRect/>
          </a:stretch>
        </p:blipFill>
        <p:spPr>
          <a:xfrm>
            <a:off x="533400" y="1905000"/>
            <a:ext cx="4153497" cy="2743200"/>
          </a:xfrm>
          <a:prstGeom prst="rect">
            <a:avLst/>
          </a:prstGeom>
        </p:spPr>
      </p:pic>
      <p:sp>
        <p:nvSpPr>
          <p:cNvPr id="6" name="TextBox 5">
            <a:extLst>
              <a:ext uri="{FF2B5EF4-FFF2-40B4-BE49-F238E27FC236}">
                <a16:creationId xmlns:a16="http://schemas.microsoft.com/office/drawing/2014/main" id="{806AF7D6-F650-FD42-8F0F-D3596F370A94}"/>
              </a:ext>
            </a:extLst>
          </p:cNvPr>
          <p:cNvSpPr txBox="1"/>
          <p:nvPr/>
        </p:nvSpPr>
        <p:spPr>
          <a:xfrm>
            <a:off x="4876800" y="1676400"/>
            <a:ext cx="4038600" cy="4247317"/>
          </a:xfrm>
          <a:prstGeom prst="rect">
            <a:avLst/>
          </a:prstGeom>
          <a:noFill/>
        </p:spPr>
        <p:txBody>
          <a:bodyPr wrap="square" rtlCol="0">
            <a:spAutoFit/>
          </a:bodyPr>
          <a:lstStyle/>
          <a:p>
            <a:r>
              <a:rPr lang="en-US" dirty="0"/>
              <a:t>For example, from initial State 2, the agent can use the matrix Q as a guide:</a:t>
            </a:r>
          </a:p>
          <a:p>
            <a:pPr marL="285750" indent="-285750">
              <a:buFont typeface="Arial" panose="020B0604020202020204" pitchFamily="34" charset="0"/>
              <a:buChar char="•"/>
            </a:pPr>
            <a:r>
              <a:rPr lang="en-US" dirty="0"/>
              <a:t>From State 2 the maximum Q values suggests the action to go to state 3.</a:t>
            </a:r>
          </a:p>
          <a:p>
            <a:pPr marL="285750" indent="-285750">
              <a:buFont typeface="Arial" panose="020B0604020202020204" pitchFamily="34" charset="0"/>
              <a:buChar char="•"/>
            </a:pPr>
            <a:r>
              <a:rPr lang="en-US" dirty="0"/>
              <a:t>From State 3 the maximum Q values suggest two alternatives: go to state 1 or 4.  Suppose we arbitrarily choose  to go to 1.</a:t>
            </a:r>
          </a:p>
          <a:p>
            <a:pPr marL="285750" indent="-285750">
              <a:buFont typeface="Arial" panose="020B0604020202020204" pitchFamily="34" charset="0"/>
              <a:buChar char="•"/>
            </a:pPr>
            <a:r>
              <a:rPr lang="en-US" dirty="0"/>
              <a:t>From State 1 the maximum Q values suggests the action to go to state 5.</a:t>
            </a:r>
          </a:p>
          <a:p>
            <a:pPr marL="285750" indent="-285750">
              <a:buFont typeface="Arial" panose="020B0604020202020204" pitchFamily="34" charset="0"/>
              <a:buChar char="•"/>
            </a:pPr>
            <a:r>
              <a:rPr lang="en-US" dirty="0"/>
              <a:t>Thus the sequence is 2 - 3 - 1 - 5.</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06316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FDB3C-E1BA-7A43-9527-CDF1D6B777D2}"/>
              </a:ext>
            </a:extLst>
          </p:cNvPr>
          <p:cNvSpPr>
            <a:spLocks noGrp="1"/>
          </p:cNvSpPr>
          <p:nvPr>
            <p:ph type="title"/>
          </p:nvPr>
        </p:nvSpPr>
        <p:spPr>
          <a:xfrm>
            <a:off x="457200" y="152400"/>
            <a:ext cx="8229600" cy="1143000"/>
          </a:xfrm>
        </p:spPr>
        <p:txBody>
          <a:bodyPr>
            <a:normAutofit/>
          </a:bodyPr>
          <a:lstStyle/>
          <a:p>
            <a:r>
              <a:rPr lang="en-US" dirty="0"/>
              <a:t>HW – Final</a:t>
            </a:r>
          </a:p>
        </p:txBody>
      </p:sp>
      <p:sp>
        <p:nvSpPr>
          <p:cNvPr id="3" name="Content Placeholder 2">
            <a:extLst>
              <a:ext uri="{FF2B5EF4-FFF2-40B4-BE49-F238E27FC236}">
                <a16:creationId xmlns:a16="http://schemas.microsoft.com/office/drawing/2014/main" id="{9D33AF16-731B-3848-8443-A484364EF2A0}"/>
              </a:ext>
            </a:extLst>
          </p:cNvPr>
          <p:cNvSpPr>
            <a:spLocks noGrp="1"/>
          </p:cNvSpPr>
          <p:nvPr>
            <p:ph idx="1"/>
          </p:nvPr>
        </p:nvSpPr>
        <p:spPr/>
        <p:txBody>
          <a:bodyPr>
            <a:normAutofit/>
          </a:bodyPr>
          <a:lstStyle/>
          <a:p>
            <a:pPr marL="514350" indent="-514350">
              <a:buFont typeface="+mj-lt"/>
              <a:buAutoNum type="arabicPeriod"/>
            </a:pPr>
            <a:r>
              <a:rPr lang="en-US" dirty="0"/>
              <a:t>Write R code to derive the Q matrix. State your convergence rule.</a:t>
            </a:r>
          </a:p>
          <a:p>
            <a:pPr marL="0" indent="0">
              <a:buNone/>
            </a:pPr>
            <a:endParaRPr lang="en-US" dirty="0"/>
          </a:p>
        </p:txBody>
      </p:sp>
    </p:spTree>
    <p:extLst>
      <p:ext uri="{BB962C8B-B14F-4D97-AF65-F5344CB8AC3E}">
        <p14:creationId xmlns:p14="http://schemas.microsoft.com/office/powerpoint/2010/main" val="3093834262"/>
      </p:ext>
    </p:extLst>
  </p:cSld>
  <p:clrMapOvr>
    <a:masterClrMapping/>
  </p:clrMapOvr>
</p:sld>
</file>

<file path=ppt/theme/theme1.xml><?xml version="1.0" encoding="utf-8"?>
<a:theme xmlns:a="http://schemas.openxmlformats.org/drawingml/2006/main" name="Office Theme">
  <a:themeElements>
    <a:clrScheme name="Custom 10">
      <a:dk1>
        <a:srgbClr val="7B3294"/>
      </a:dk1>
      <a:lt1>
        <a:srgbClr val="F5F5F5"/>
      </a:lt1>
      <a:dk2>
        <a:srgbClr val="008837"/>
      </a:dk2>
      <a:lt2>
        <a:srgbClr val="EEECE1"/>
      </a:lt2>
      <a:accent1>
        <a:srgbClr val="00883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95671</TotalTime>
  <Words>1582</Words>
  <Application>Microsoft Office PowerPoint</Application>
  <PresentationFormat>On-screen Show (4:3)</PresentationFormat>
  <Paragraphs>89</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Context</vt:lpstr>
      <vt:lpstr>States and Action</vt:lpstr>
      <vt:lpstr>Transitioning states</vt:lpstr>
      <vt:lpstr>The Reward Matrix at the start</vt:lpstr>
      <vt:lpstr>The Q matrix</vt:lpstr>
      <vt:lpstr>The Transition Rule</vt:lpstr>
      <vt:lpstr>Learning through experience</vt:lpstr>
      <vt:lpstr>The Q-Learning algorithm goes as follows:</vt:lpstr>
      <vt:lpstr>The Q matrix is the brain of the agent</vt:lpstr>
      <vt:lpstr>Using the Q-matrix</vt:lpstr>
      <vt:lpstr>Illustrating the algorithm</vt:lpstr>
      <vt:lpstr>The first update of the Q matrix</vt:lpstr>
      <vt:lpstr>Next Episode</vt:lpstr>
      <vt:lpstr>The Episode Continues</vt:lpstr>
      <vt:lpstr>Continue Learning to Convergence</vt:lpstr>
      <vt:lpstr>Using the Q-matrix</vt:lpstr>
      <vt:lpstr>HW – Final</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Bounds on FST as a Function of Homozygosity for Loci with Odd Numbers of Alleles</dc:title>
  <dc:creator>Owner</dc:creator>
  <cp:lastModifiedBy>richard tian</cp:lastModifiedBy>
  <cp:revision>636</cp:revision>
  <dcterms:created xsi:type="dcterms:W3CDTF">2013-01-13T20:14:38Z</dcterms:created>
  <dcterms:modified xsi:type="dcterms:W3CDTF">2024-11-18T11:38:20Z</dcterms:modified>
</cp:coreProperties>
</file>